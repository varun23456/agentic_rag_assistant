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b="1" sz="5400">
                <a:solidFill>
                  <a:srgbClr val="003366"/>
                </a:solidFill>
              </a:defRPr>
            </a:pPr>
            <a:r>
              <a:t>f-block elements</a:t>
            </a:r>
          </a:p>
        </p:txBody>
      </p:sp>
      <p:sp>
        <p:nvSpPr>
          <p:cNvPr id="3" name="Subtitle 2"/>
          <p:cNvSpPr>
            <a:spLocks noGrp="1"/>
          </p:cNvSpPr>
          <p:nvPr>
            <p:ph type="subTitle" idx="1"/>
          </p:nvPr>
        </p:nvSpPr>
        <p:spPr/>
        <p:txBody>
          <a:bodyPr/>
          <a:lstStyle/>
          <a:p>
            <a:pPr>
              <a:defRPr sz="2400">
                <a:solidFill>
                  <a:srgbClr val="0066CC"/>
                </a:solidFill>
              </a:defRPr>
            </a:pPr>
            <a:r>
              <a:t>Generated by the AI Chemistry Agent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003366"/>
                </a:solidFill>
              </a:defRPr>
            </a:pPr>
            <a:r>
              <a:t>Academic Report on f-block Elements</a:t>
            </a:r>
          </a:p>
        </p:txBody>
      </p:sp>
      <p:sp>
        <p:nvSpPr>
          <p:cNvPr id="3" name="Content Placeholder 2"/>
          <p:cNvSpPr>
            <a:spLocks noGrp="1"/>
          </p:cNvSpPr>
          <p:nvPr>
            <p:ph idx="1"/>
          </p:nvPr>
        </p:nvSpPr>
        <p:spPr/>
        <p:txBody>
          <a:bodyPr wrap="square"/>
          <a:lstStyle/>
          <a:p/>
        </p:txBody>
      </p:sp>
      <p:sp>
        <p:nvSpPr>
          <p:cNvPr id="4" name="TextBox 3"/>
          <p:cNvSpPr txBox="1"/>
          <p:nvPr/>
        </p:nvSpPr>
        <p:spPr>
          <a:xfrm>
            <a:off x="457200" y="7772400"/>
            <a:ext cx="13716000" cy="365760"/>
          </a:xfrm>
          <a:prstGeom prst="rect">
            <a:avLst/>
          </a:prstGeom>
          <a:noFill/>
        </p:spPr>
        <p:txBody>
          <a:bodyPr wrap="none">
            <a:spAutoFit/>
          </a:bodyPr>
          <a:lstStyle/>
          <a:p>
            <a:pPr algn="r">
              <a:defRPr sz="1200">
                <a:solidFill>
                  <a:srgbClr val="969696"/>
                </a:solidFill>
              </a:defRPr>
            </a:pPr>
            <a:r>
              <a:t>f-block elements | Chemistry SME Agent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003366"/>
                </a:solidFill>
              </a:defRPr>
            </a:pPr>
            <a:r>
              <a:t>Introduction</a:t>
            </a:r>
          </a:p>
        </p:txBody>
      </p:sp>
      <p:sp>
        <p:nvSpPr>
          <p:cNvPr id="3" name="Content Placeholder 2"/>
          <p:cNvSpPr>
            <a:spLocks noGrp="1"/>
          </p:cNvSpPr>
          <p:nvPr>
            <p:ph idx="1"/>
          </p:nvPr>
        </p:nvSpPr>
        <p:spPr/>
        <p:txBody>
          <a:bodyPr wrap="square"/>
          <a:lstStyle/>
          <a:p/>
          <a:p>
            <a:pPr>
              <a:defRPr sz="2200">
                <a:solidFill>
                  <a:srgbClr val="323232"/>
                </a:solidFill>
              </a:defRPr>
            </a:pPr>
            <a:r>
              <a:t>The periodic table organizes elements based on their electronic configurations and recurring chemical properties. Within this structure, the f-block elements represent a distinct group, often referred to as inner transition elements, characterized by the progressive filling of their 4f and 5f orbitals. These elements are traditionally placed in a separate panel at the bottom of the periodic table, reflecting their unique electronic structure and chemical behavior. Historically, elements like iron, copper, silver, and gold from the d-block have been crucial for human civilization, but the f-block elements, such as thorium (Th), protactinium (Pa), and uranium (U), are increasingly vital, particularly as sources of nuclear energy in modern applications. This report will detail the position, definition, nomenclature, and general characteristics of f-block elements based on the provided knowledge base.</a:t>
            </a:r>
          </a:p>
        </p:txBody>
      </p:sp>
      <p:sp>
        <p:nvSpPr>
          <p:cNvPr id="4" name="TextBox 3"/>
          <p:cNvSpPr txBox="1"/>
          <p:nvPr/>
        </p:nvSpPr>
        <p:spPr>
          <a:xfrm>
            <a:off x="457200" y="7772400"/>
            <a:ext cx="13716000" cy="365760"/>
          </a:xfrm>
          <a:prstGeom prst="rect">
            <a:avLst/>
          </a:prstGeom>
          <a:noFill/>
        </p:spPr>
        <p:txBody>
          <a:bodyPr wrap="none">
            <a:spAutoFit/>
          </a:bodyPr>
          <a:lstStyle/>
          <a:p>
            <a:pPr algn="r">
              <a:defRPr sz="1200">
                <a:solidFill>
                  <a:srgbClr val="969696"/>
                </a:solidFill>
              </a:defRPr>
            </a:pPr>
            <a:r>
              <a:t>f-block elements | Chemistry SME Agent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003366"/>
                </a:solidFill>
              </a:defRPr>
            </a:pPr>
            <a:r>
              <a:t>Position and Definition</a:t>
            </a:r>
          </a:p>
        </p:txBody>
      </p:sp>
      <p:sp>
        <p:nvSpPr>
          <p:cNvPr id="3" name="Content Placeholder 2"/>
          <p:cNvSpPr>
            <a:spLocks noGrp="1"/>
          </p:cNvSpPr>
          <p:nvPr>
            <p:ph idx="1"/>
          </p:nvPr>
        </p:nvSpPr>
        <p:spPr/>
        <p:txBody>
          <a:bodyPr wrap="square"/>
          <a:lstStyle/>
          <a:p/>
          <a:p>
            <a:pPr>
              <a:defRPr sz="2200">
                <a:solidFill>
                  <a:srgbClr val="323232"/>
                </a:solidFill>
              </a:defRPr>
            </a:pPr>
            <a:r>
              <a:t>The f-block elements occupy a specific region within the periodic table, distinct from the d-block or transition metals. They are characterized by the progressive filling of the 4f and 5f orbitals. Unlike the d-block elements where d orbitals are progressively filled across four series (3d, 4d, 5d, and 6d), the f-block elements are exclusively defined by the progressive occupation of their f-subshells. These elements are visually separated from the main body of the periodic table and are typically displayed in a standalone panel at the bottom. This unique placement and electronic configuration set them apart, necessitating their study as a distinct group due to the influence of these partly filled f-orbitals on their atomic and chemical properties.</a:t>
            </a:r>
          </a:p>
        </p:txBody>
      </p:sp>
      <p:sp>
        <p:nvSpPr>
          <p:cNvPr id="4" name="TextBox 3"/>
          <p:cNvSpPr txBox="1"/>
          <p:nvPr/>
        </p:nvSpPr>
        <p:spPr>
          <a:xfrm>
            <a:off x="457200" y="7772400"/>
            <a:ext cx="13716000" cy="365760"/>
          </a:xfrm>
          <a:prstGeom prst="rect">
            <a:avLst/>
          </a:prstGeom>
          <a:noFill/>
        </p:spPr>
        <p:txBody>
          <a:bodyPr wrap="none">
            <a:spAutoFit/>
          </a:bodyPr>
          <a:lstStyle/>
          <a:p>
            <a:pPr algn="r">
              <a:defRPr sz="1200">
                <a:solidFill>
                  <a:srgbClr val="969696"/>
                </a:solidFill>
              </a:defRPr>
            </a:pPr>
            <a:r>
              <a:t>f-block elements | Chemistry SME Agent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003366"/>
                </a:solidFill>
              </a:defRPr>
            </a:pPr>
            <a:r>
              <a:t>Nomenclature and Series</a:t>
            </a:r>
          </a:p>
        </p:txBody>
      </p:sp>
      <p:sp>
        <p:nvSpPr>
          <p:cNvPr id="3" name="Content Placeholder 2"/>
          <p:cNvSpPr>
            <a:spLocks noGrp="1"/>
          </p:cNvSpPr>
          <p:nvPr>
            <p:ph idx="1"/>
          </p:nvPr>
        </p:nvSpPr>
        <p:spPr/>
        <p:txBody>
          <a:bodyPr wrap="square"/>
          <a:lstStyle/>
          <a:p/>
          <a:p>
            <a:pPr>
              <a:defRPr sz="2200">
                <a:solidFill>
                  <a:srgbClr val="323232"/>
                </a:solidFill>
              </a:defRPr>
            </a:pPr>
            <a:r>
              <a:t>The f-block elements are broadly known as "inner transition elements," a term used to differentiate them from the "transition metals" of the d-block. Within the f-block, there are two primary series, each corresponding to the filling of a specific f-subshell. The first series comprises the 4f elements, spanning from cerium (Ce) to lutetium (Lu), and is collectively known as the **lanthanoids**. The second series consists of the 5f elements, extending from thorium (Th) to lawrencium (Lr), and these are termed the **actinoids**. Understanding these series, including their specific ranges, is fundamental to comprehending the f-block elements.</a:t>
            </a:r>
          </a:p>
        </p:txBody>
      </p:sp>
      <p:sp>
        <p:nvSpPr>
          <p:cNvPr id="4" name="TextBox 3"/>
          <p:cNvSpPr txBox="1"/>
          <p:nvPr/>
        </p:nvSpPr>
        <p:spPr>
          <a:xfrm>
            <a:off x="457200" y="7772400"/>
            <a:ext cx="13716000" cy="365760"/>
          </a:xfrm>
          <a:prstGeom prst="rect">
            <a:avLst/>
          </a:prstGeom>
          <a:noFill/>
        </p:spPr>
        <p:txBody>
          <a:bodyPr wrap="none">
            <a:spAutoFit/>
          </a:bodyPr>
          <a:lstStyle/>
          <a:p>
            <a:pPr algn="r">
              <a:defRPr sz="1200">
                <a:solidFill>
                  <a:srgbClr val="969696"/>
                </a:solidFill>
              </a:defRPr>
            </a:pPr>
            <a:r>
              <a:t>f-block elements | Chemistry SME Agent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003366"/>
                </a:solidFill>
              </a:defRPr>
            </a:pPr>
            <a:r>
              <a:t>Electronic Configuration and Unique Characteristics</a:t>
            </a:r>
          </a:p>
        </p:txBody>
      </p:sp>
      <p:sp>
        <p:nvSpPr>
          <p:cNvPr id="3" name="Content Placeholder 2"/>
          <p:cNvSpPr>
            <a:spLocks noGrp="1"/>
          </p:cNvSpPr>
          <p:nvPr>
            <p:ph idx="1"/>
          </p:nvPr>
        </p:nvSpPr>
        <p:spPr/>
        <p:txBody>
          <a:bodyPr wrap="square"/>
          <a:lstStyle/>
          <a:p/>
          <a:p>
            <a:pPr>
              <a:defRPr sz="2200">
                <a:solidFill>
                  <a:srgbClr val="323232"/>
                </a:solidFill>
              </a:defRPr>
            </a:pPr>
            <a:r>
              <a:t>The defining characteristic of f-block elements lies in their electronic configurations, specifically the progressive filling of the 4f and 5f orbitals. This partially filled nature of the f-orbitals in their atoms is what fundamentally distinguishes them from non-transition elements. This electronic structure dictates many of their unique chemical and physical properties. Consequently, the study of f-block elements and their compounds is often conducted separately from other elemental blocks, as the usual theories of valence applicable to non-transition elements, while still having some applicability, need to account for the complexities introduced by the f-electrons. A key objective in studying these elements is to understand their electronic configurations and how they relate to their properties.</a:t>
            </a:r>
          </a:p>
        </p:txBody>
      </p:sp>
      <p:sp>
        <p:nvSpPr>
          <p:cNvPr id="4" name="TextBox 3"/>
          <p:cNvSpPr txBox="1"/>
          <p:nvPr/>
        </p:nvSpPr>
        <p:spPr>
          <a:xfrm>
            <a:off x="457200" y="7772400"/>
            <a:ext cx="13716000" cy="365760"/>
          </a:xfrm>
          <a:prstGeom prst="rect">
            <a:avLst/>
          </a:prstGeom>
          <a:noFill/>
        </p:spPr>
        <p:txBody>
          <a:bodyPr wrap="none">
            <a:spAutoFit/>
          </a:bodyPr>
          <a:lstStyle/>
          <a:p>
            <a:pPr algn="r">
              <a:defRPr sz="1200">
                <a:solidFill>
                  <a:srgbClr val="969696"/>
                </a:solidFill>
              </a:defRPr>
            </a:pPr>
            <a:r>
              <a:t>f-block elements | Chemistry SME Agent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003366"/>
                </a:solidFill>
              </a:defRPr>
            </a:pPr>
            <a:r>
              <a:t>Significance and Comparative Study</a:t>
            </a:r>
          </a:p>
        </p:txBody>
      </p:sp>
      <p:sp>
        <p:nvSpPr>
          <p:cNvPr id="3" name="Content Placeholder 2"/>
          <p:cNvSpPr>
            <a:spLocks noGrp="1"/>
          </p:cNvSpPr>
          <p:nvPr>
            <p:ph idx="1"/>
          </p:nvPr>
        </p:nvSpPr>
        <p:spPr/>
        <p:txBody>
          <a:bodyPr wrap="square"/>
          <a:lstStyle/>
          <a:p/>
          <a:p>
            <a:pPr>
              <a:defRPr sz="2200">
                <a:solidFill>
                  <a:srgbClr val="323232"/>
                </a:solidFill>
              </a:defRPr>
            </a:pPr>
            <a:r>
              <a:t>The f-block elements hold significant importance in various technological and energy sectors. As highlighted, elements such as thorium (Th), protactinium (Pa), and uranium (U) from the actinoid series are crucial sources of nuclear energy, underpinning modern power generation and other applications. Academically, a comprehensive understanding of f-block elements involves not only their positions and electronic configurations but also a detailed appreciation of their properties. A significant aspect of this study is to provide a comparative account of the lanthanoids and actinoids, examining their respective electronic configurations, oxidation states, and overall chemical behavior. While the details of such a comparison are extensive, the objective emphasizes the importance of discerning the similarities and differences between these two inner transition series.</a:t>
            </a:r>
          </a:p>
        </p:txBody>
      </p:sp>
      <p:sp>
        <p:nvSpPr>
          <p:cNvPr id="4" name="TextBox 3"/>
          <p:cNvSpPr txBox="1"/>
          <p:nvPr/>
        </p:nvSpPr>
        <p:spPr>
          <a:xfrm>
            <a:off x="457200" y="7772400"/>
            <a:ext cx="13716000" cy="365760"/>
          </a:xfrm>
          <a:prstGeom prst="rect">
            <a:avLst/>
          </a:prstGeom>
          <a:noFill/>
        </p:spPr>
        <p:txBody>
          <a:bodyPr wrap="none">
            <a:spAutoFit/>
          </a:bodyPr>
          <a:lstStyle/>
          <a:p>
            <a:pPr algn="r">
              <a:defRPr sz="1200">
                <a:solidFill>
                  <a:srgbClr val="969696"/>
                </a:solidFill>
              </a:defRPr>
            </a:pPr>
            <a:r>
              <a:t>f-block elements | Chemistry SME Agent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003366"/>
                </a:solidFill>
              </a:defRPr>
            </a:pPr>
            <a:r>
              <a:t>Conclusion</a:t>
            </a:r>
          </a:p>
        </p:txBody>
      </p:sp>
      <p:sp>
        <p:nvSpPr>
          <p:cNvPr id="3" name="Content Placeholder 2"/>
          <p:cNvSpPr>
            <a:spLocks noGrp="1"/>
          </p:cNvSpPr>
          <p:nvPr>
            <p:ph idx="1"/>
          </p:nvPr>
        </p:nvSpPr>
        <p:spPr/>
        <p:txBody>
          <a:bodyPr wrap="square"/>
          <a:lstStyle/>
          <a:p/>
          <a:p>
            <a:pPr>
              <a:defRPr sz="2200">
                <a:solidFill>
                  <a:srgbClr val="323232"/>
                </a:solidFill>
              </a:defRPr>
            </a:pPr>
            <a:r>
              <a:t>In summary, the f-block elements, or inner transition elements, constitute a unique and vital group in the periodic table, characterized by the progressive filling of their 4f and 5f orbitals and their placement in a separate panel at the bottom. Comprising the lanthanoids (4f series, Ce to Lu) and actinoids (5f series, Th to Lr), these elements exhibit distinct chemical behaviors due to their partly filled f-orbitals, necessitating their specialized study. Beyond their theoretical interest, f-block elements, particularly certain actinoids, play a critical role as sources of nuclear energy, underscoring their practical significance in contemporary society. A thorough understanding encompasses their electronic configurations, properties, and a comparative analysis of their two constituent series.</a:t>
            </a:r>
          </a:p>
        </p:txBody>
      </p:sp>
      <p:sp>
        <p:nvSpPr>
          <p:cNvPr id="4" name="TextBox 3"/>
          <p:cNvSpPr txBox="1"/>
          <p:nvPr/>
        </p:nvSpPr>
        <p:spPr>
          <a:xfrm>
            <a:off x="457200" y="7772400"/>
            <a:ext cx="13716000" cy="365760"/>
          </a:xfrm>
          <a:prstGeom prst="rect">
            <a:avLst/>
          </a:prstGeom>
          <a:noFill/>
        </p:spPr>
        <p:txBody>
          <a:bodyPr wrap="none">
            <a:spAutoFit/>
          </a:bodyPr>
          <a:lstStyle/>
          <a:p>
            <a:pPr algn="r">
              <a:defRPr sz="1200">
                <a:solidFill>
                  <a:srgbClr val="969696"/>
                </a:solidFill>
              </a:defRPr>
            </a:pPr>
            <a:r>
              <a:t>f-block elements | Chemistry SME Agent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